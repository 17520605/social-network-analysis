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1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7" r:id="rId9"/>
    <p:sldId id="266" r:id="rId10"/>
    <p:sldId id="261" r:id="rId11"/>
    <p:sldId id="271" r:id="rId12"/>
    <p:sldId id="272" r:id="rId13"/>
    <p:sldId id="273" r:id="rId14"/>
    <p:sldId id="274" r:id="rId15"/>
    <p:sldId id="275" r:id="rId16"/>
    <p:sldId id="268" r:id="rId17"/>
    <p:sldId id="269" r:id="rId18"/>
    <p:sldId id="270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E82"/>
    <a:srgbClr val="FFC000"/>
    <a:srgbClr val="00B0F0"/>
    <a:srgbClr val="06346A"/>
    <a:srgbClr val="E87D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903" autoAdjust="0"/>
  </p:normalViewPr>
  <p:slideViewPr>
    <p:cSldViewPr snapToGrid="0">
      <p:cViewPr varScale="1">
        <p:scale>
          <a:sx n="43" d="100"/>
          <a:sy n="43" d="100"/>
        </p:scale>
        <p:origin x="5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A8B4D-C7F5-4A74-B9EA-FF39DFE782E7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0F500-FF82-4811-9A6B-C597FBD3C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0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F500-FF82-4811-9A6B-C597FBD3C1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55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Khái niệm đo lường</a:t>
            </a:r>
          </a:p>
          <a:p>
            <a:r>
              <a:rPr lang="vi-VN" dirty="0"/>
              <a:t>eigenvector Bạn là bạn của những người quan trọng.</a:t>
            </a:r>
          </a:p>
          <a:p>
            <a:r>
              <a:rPr lang="vi-VN" dirty="0"/>
              <a:t>Xếp hạng Trang Những người quan trọng chỉ bạn, bạn phải quan trọng. (vị trí trung tâm của eigenvector cho đồ thị có hướng)</a:t>
            </a:r>
          </a:p>
          <a:p>
            <a:r>
              <a:rPr lang="vi-VN" dirty="0"/>
              <a:t>Bằng cấp nếu bạn có nhiều mối quan hệ bạn phải quan trọng.</a:t>
            </a:r>
          </a:p>
          <a:p>
            <a:r>
              <a:rPr lang="vi-VN" dirty="0"/>
              <a:t>Sự gần gũi bạn có thể tiếp cận mọi người một cách dễ dàng.</a:t>
            </a:r>
          </a:p>
          <a:p>
            <a:r>
              <a:rPr lang="vi-VN" dirty="0"/>
              <a:t>Betweeness bạn là ngã tư. Mọi người phải đi qua bạn để đến các phần khác của biểu đồ.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F500-FF82-4811-9A6B-C597FBD3C1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71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Khái niệm đo lường</a:t>
            </a:r>
          </a:p>
          <a:p>
            <a:r>
              <a:rPr lang="vi-VN" dirty="0"/>
              <a:t>eigenvector Bạn là bạn của những người quan trọng.</a:t>
            </a:r>
          </a:p>
          <a:p>
            <a:r>
              <a:rPr lang="vi-VN" dirty="0"/>
              <a:t>Xếp hạng Trang Những người quan trọng chỉ bạn, bạn phải quan trọng. (vị trí trung tâm của eigenvector cho đồ thị có hướng)</a:t>
            </a:r>
          </a:p>
          <a:p>
            <a:r>
              <a:rPr lang="vi-VN" dirty="0"/>
              <a:t>Bằng cấp nếu bạn có nhiều mối quan hệ bạn phải quan trọng.</a:t>
            </a:r>
          </a:p>
          <a:p>
            <a:r>
              <a:rPr lang="vi-VN" dirty="0"/>
              <a:t>Sự gần gũi bạn có thể tiếp cận mọi người một cách dễ dàng.</a:t>
            </a:r>
          </a:p>
          <a:p>
            <a:r>
              <a:rPr lang="vi-VN" dirty="0"/>
              <a:t>Betweeness bạn là ngã tư. Mọi người phải đi qua bạn để đến các phần khác của biểu đồ.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F500-FF82-4811-9A6B-C597FBD3C1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16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Các thước đo độ trung tâm có xu hướng tương quan với nhau nhưng topN thay đổi một chút.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F500-FF82-4811-9A6B-C597FBD3C1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58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0F500-FF82-4811-9A6B-C597FBD3C1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27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9994C-B08A-4B24-BE40-AC2809A2A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03681-951A-44B8-8252-B383FDFE0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55585-6016-4AC8-8AC2-604D44024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41F99-A864-4976-B884-D083303E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5E12A-69D7-4C6B-B05F-0B2DC2B1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3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EDCE0-7B56-4C42-AA4F-55A1D1C0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F3F58-1E61-4EBB-88DC-D2BDDD857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73842-5A59-460A-857B-A3BBB632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1034B-8D3A-4044-A502-F340AEB0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488DF-10CF-4A90-A3E5-17A5EAA6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20D3F-FE56-41BF-B837-DD9835005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8F0DB-9FF6-4CE1-B1E3-CD007FC11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03B87-CCEA-4970-B099-CB6AF0778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56A1D-0E5E-48C8-A6A3-D3964867B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0050B-F392-479B-8182-F00F0F56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92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E754-0EC5-4923-8B58-C6FAB82D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81DE-A77B-4781-BE59-B5CB69F95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1B407-AE69-4AF0-A530-88BAD20BA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3AFAE-2DC3-452E-8F07-14DB6F46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DEF44-8B40-4098-9773-B5EE95D5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BBAFC-2183-48D3-A9D6-C2103E4F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85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EAB4-071E-45F3-8B62-41EE154E5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29E4A-C2B5-4AD2-929C-E67696DB9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26CEC-8565-4E64-8BA7-4635A4F3C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3B2E8-B513-429B-A411-A488524FB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28CDB9-89BE-4E6A-B484-90EDDE1C4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CD0D6-DC67-422A-9859-C57C87078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D2C8E-CFDE-4D46-9B27-8AAF7C93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B4FB6C-2437-4A42-ACFE-1137AE07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7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58DA-1642-4EB5-9AF1-D9FDE6363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BC37-A45B-4BD3-BE72-946115AA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E6C6D-1941-4FDA-935C-3E18FF93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2B5C7-DAE3-47B8-A6D7-F7663238A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4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558B1-3133-47E0-B98D-4C0C8065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0E389-A762-48D6-9596-2B4CBBE47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8B858-F317-4779-9D50-A84F7969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12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D6ED-EC80-458B-9522-C7422D04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1D3BF-F0E9-46B7-B96C-94D891815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FF131-52D5-43BD-9B35-1898B34F0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357D6-1D32-4EBE-8C85-769B26AFB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4B8BF-8CF2-49B2-B7D9-CDDD8167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0232F-DFEE-41F6-A92A-830C5660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4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DDB1-E3B3-48ED-A1A4-2EB28EA1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A7F5B9-98D1-47AE-AE15-0F141DF90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E1491-D899-495C-85B2-FD8BDBCBF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78323-35BF-4CED-A324-59FB63B5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5D2F3-0F87-4E41-B5D6-38642AD5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993FB-5627-4A30-9236-E6C67E25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0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AC22-2014-4AA0-87CD-77D0831D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5A783-CDC2-43BC-ACCA-74F2C600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03074-5099-470D-8269-AB543851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6AF4B-98A5-4F2F-A03E-A5300A49C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F6688-E6D1-4AEB-8C2E-0B154C55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37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702BF2-310E-4EA1-97B4-2625590AD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8011D-68D8-488D-8A95-B1C47732F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647D3-8E67-4B18-A5DC-CA8ECB221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FC204-AAF0-45ED-8163-010BB263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4D753-A388-4D84-AC03-1B121A96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5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71216-469F-480C-953C-9D39A99C5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468F6-7E69-48AD-8CB3-51C1ED1F2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8917D-3C66-4581-B860-7042C8541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EDF5C-C44C-42DB-BA35-C05AAB18E9E1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E2C90-2CD4-4216-8C95-DB1384FEB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9B4EA-20D4-4565-BF8E-9D633076F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44840-EE10-4F5C-AAC7-C1A2C37E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5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mgold/pycon_social_networkx/blob/master/ESC2018_GF.xlsx" TargetMode="External"/><Relationship Id="rId2" Type="http://schemas.openxmlformats.org/officeDocument/2006/relationships/hyperlink" Target="https://eurovision.tv/story/the-results-eurovision-2018-dive-into-number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5E77-0B6B-4F26-A663-16B65B47D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2942" y="685800"/>
            <a:ext cx="9626115" cy="186309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SOCIAL NETWORK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FE583-3F59-40CA-B57B-47832FC5E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58" y="3179038"/>
            <a:ext cx="5768341" cy="51792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GVHD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cô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: NGUYỄN THỊ KIM PHỤNG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E1F151-7229-468B-AC07-C83BA5E92869}"/>
              </a:ext>
            </a:extLst>
          </p:cNvPr>
          <p:cNvSpPr txBox="1">
            <a:spLocks/>
          </p:cNvSpPr>
          <p:nvPr/>
        </p:nvSpPr>
        <p:spPr>
          <a:xfrm>
            <a:off x="480058" y="3894621"/>
            <a:ext cx="5684521" cy="253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Consolas" panose="020B0609020204030204" pitchFamily="49" charset="0"/>
              </a:rPr>
              <a:t>Nguyễn Hữu Minh Khai 	17520605</a:t>
            </a:r>
          </a:p>
          <a:p>
            <a:pPr algn="l"/>
            <a:r>
              <a:rPr lang="en-US" dirty="0" err="1">
                <a:latin typeface="Consolas" panose="020B0609020204030204" pitchFamily="49" charset="0"/>
              </a:rPr>
              <a:t>Võ</a:t>
            </a:r>
            <a:r>
              <a:rPr lang="en-US" dirty="0">
                <a:latin typeface="Consolas" panose="020B0609020204030204" pitchFamily="49" charset="0"/>
              </a:rPr>
              <a:t> Nguyễn </a:t>
            </a:r>
            <a:r>
              <a:rPr lang="en-US" dirty="0" err="1">
                <a:latin typeface="Consolas" panose="020B0609020204030204" pitchFamily="49" charset="0"/>
              </a:rPr>
              <a:t>Hồng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Hoa</a:t>
            </a:r>
            <a:r>
              <a:rPr lang="en-US" dirty="0">
                <a:latin typeface="Consolas" panose="020B0609020204030204" pitchFamily="49" charset="0"/>
              </a:rPr>
              <a:t> 	17520495</a:t>
            </a:r>
          </a:p>
          <a:p>
            <a:pPr algn="l"/>
            <a:r>
              <a:rPr lang="en-US" dirty="0" err="1">
                <a:latin typeface="Consolas" panose="020B0609020204030204" pitchFamily="49" charset="0"/>
              </a:rPr>
              <a:t>Hồ</a:t>
            </a:r>
            <a:r>
              <a:rPr lang="en-US" dirty="0">
                <a:latin typeface="Consolas" panose="020B0609020204030204" pitchFamily="49" charset="0"/>
              </a:rPr>
              <a:t> Thanh </a:t>
            </a:r>
            <a:r>
              <a:rPr lang="en-US" dirty="0" err="1">
                <a:latin typeface="Consolas" panose="020B0609020204030204" pitchFamily="49" charset="0"/>
              </a:rPr>
              <a:t>Phương</a:t>
            </a:r>
            <a:r>
              <a:rPr lang="en-US" dirty="0">
                <a:latin typeface="Consolas" panose="020B0609020204030204" pitchFamily="49" charset="0"/>
              </a:rPr>
              <a:t> 		17520922</a:t>
            </a:r>
          </a:p>
          <a:p>
            <a:pPr algn="l"/>
            <a:r>
              <a:rPr lang="en-US" dirty="0">
                <a:latin typeface="Consolas" panose="020B0609020204030204" pitchFamily="49" charset="0"/>
              </a:rPr>
              <a:t>Nguyễn Anh </a:t>
            </a:r>
            <a:r>
              <a:rPr lang="en-US" dirty="0" err="1">
                <a:latin typeface="Consolas" panose="020B0609020204030204" pitchFamily="49" charset="0"/>
              </a:rPr>
              <a:t>Trung</a:t>
            </a:r>
            <a:r>
              <a:rPr lang="en-US" dirty="0">
                <a:latin typeface="Consolas" panose="020B0609020204030204" pitchFamily="49" charset="0"/>
              </a:rPr>
              <a:t> 	17521175</a:t>
            </a: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pPr algn="l"/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727AC-9058-4CC7-A327-4B5F594DB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43" y="2393605"/>
            <a:ext cx="4692084" cy="414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8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5E77-0B6B-4F26-A663-16B65B47D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0092" y="342900"/>
            <a:ext cx="9626115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Cuộc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thi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Eurovision song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FE583-3F59-40CA-B57B-47832FC5E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061" y="4718958"/>
            <a:ext cx="10437878" cy="1042264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LINK DATA :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https://eurovision.tv/story/the-results-eurovision-2018-dive-into-numbers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https://github.com/dimgold/pycon_social_networkx/blob/master/ESC2018_GF.xlsx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DAAB5B4-7964-4DD2-A73A-D0E52B0DC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2245179"/>
            <a:ext cx="53721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119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5E77-0B6B-4F26-A663-16B65B47D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2942" y="412025"/>
            <a:ext cx="9626115" cy="743494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  <a:latin typeface="Consolas" panose="020B0609020204030204" pitchFamily="49" charset="0"/>
              </a:rPr>
              <a:t>GIỚI THIỆU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FE583-3F59-40CA-B57B-47832FC5E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179" y="1155519"/>
            <a:ext cx="10835640" cy="5290455"/>
          </a:xfrm>
        </p:spPr>
        <p:txBody>
          <a:bodyPr>
            <a:noAutofit/>
          </a:bodyPr>
          <a:lstStyle/>
          <a:p>
            <a:pPr algn="l">
              <a:lnSpc>
                <a:spcPct val="170000"/>
              </a:lnSpc>
            </a:pP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Eurovision Song Contest là cuộc thi do Liên minh Phát thanh Châu Âu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tổ chức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pPr algn="l">
              <a:lnSpc>
                <a:spcPct val="170000"/>
              </a:lnSpc>
            </a:pP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Mỗi đài truyền hình tham gia phải chỉ ra một nghệ sĩ hoặc ban nhạc đại diện cho đất nước mỗi lần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tham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dự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vi-VN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>
              <a:lnSpc>
                <a:spcPct val="170000"/>
              </a:lnSpc>
            </a:pP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Hệ thống bỏ phiếu được chia thành các Phiếu của Ban giám khảo và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công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chúng</a:t>
            </a: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ct val="170000"/>
              </a:lnSpc>
            </a:pP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Ban giám khảo là một nhóm các chuyên gia thường thuộc về ngành âm nhạc.</a:t>
            </a:r>
          </a:p>
          <a:p>
            <a:pPr algn="l">
              <a:lnSpc>
                <a:spcPct val="170000"/>
              </a:lnSpc>
            </a:pP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Televoting là phiếu bầu của công chúng bằng cách sử dụng SMS, điện thoại hoặc ứng dụng eurovision.</a:t>
            </a:r>
          </a:p>
          <a:p>
            <a:pPr algn="l">
              <a:lnSpc>
                <a:spcPct val="170000"/>
              </a:lnSpc>
            </a:pP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Một quốc gia (ban giám khảo hoặc công chúng) không thể tự bỏ phiếu.</a:t>
            </a:r>
          </a:p>
          <a:p>
            <a:pPr algn="l">
              <a:lnSpc>
                <a:spcPct val="170000"/>
              </a:lnSpc>
            </a:pP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Mỗi quốc gia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sẽ</a:t>
            </a: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 bỏ phiếu cho trong số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những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người tham gia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xứng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đáng</a:t>
            </a: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358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0854BB-6DC6-4371-881A-5ED6B34F0241}"/>
              </a:ext>
            </a:extLst>
          </p:cNvPr>
          <p:cNvSpPr txBox="1"/>
          <p:nvPr/>
        </p:nvSpPr>
        <p:spPr>
          <a:xfrm>
            <a:off x="1944319" y="708660"/>
            <a:ext cx="78021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70C0"/>
                </a:solidFill>
                <a:latin typeface="Consolas" panose="020B0609020204030204" pitchFamily="49" charset="0"/>
              </a:rPr>
              <a:t>Building a Network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4F75E9-84CE-4844-8B59-A7CDF7919EA2}"/>
              </a:ext>
            </a:extLst>
          </p:cNvPr>
          <p:cNvSpPr/>
          <p:nvPr/>
        </p:nvSpPr>
        <p:spPr>
          <a:xfrm>
            <a:off x="1085850" y="2640330"/>
            <a:ext cx="2160270" cy="13030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FC15D-5C4C-4E31-844F-D3DA14DF1479}"/>
              </a:ext>
            </a:extLst>
          </p:cNvPr>
          <p:cNvSpPr/>
          <p:nvPr/>
        </p:nvSpPr>
        <p:spPr>
          <a:xfrm>
            <a:off x="5015865" y="2640330"/>
            <a:ext cx="2160270" cy="13030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Edgelist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B47FD4-7B9C-4C5C-BB91-1CD581B2942B}"/>
              </a:ext>
            </a:extLst>
          </p:cNvPr>
          <p:cNvSpPr/>
          <p:nvPr/>
        </p:nvSpPr>
        <p:spPr>
          <a:xfrm>
            <a:off x="8945880" y="2640330"/>
            <a:ext cx="2160270" cy="1303020"/>
          </a:xfrm>
          <a:prstGeom prst="rect">
            <a:avLst/>
          </a:prstGeom>
          <a:solidFill>
            <a:srgbClr val="A50E8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59D23C9-F6A1-42D6-A9B3-94D53CFC0CC3}"/>
              </a:ext>
            </a:extLst>
          </p:cNvPr>
          <p:cNvSpPr/>
          <p:nvPr/>
        </p:nvSpPr>
        <p:spPr>
          <a:xfrm>
            <a:off x="3246119" y="3137535"/>
            <a:ext cx="1769745" cy="308610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BE14A65-64C2-42A6-9B39-0B27A54084B5}"/>
              </a:ext>
            </a:extLst>
          </p:cNvPr>
          <p:cNvSpPr/>
          <p:nvPr/>
        </p:nvSpPr>
        <p:spPr>
          <a:xfrm>
            <a:off x="7176135" y="3148965"/>
            <a:ext cx="1769745" cy="30861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2B85DF-61E9-4B67-954C-B114D63C745F}"/>
              </a:ext>
            </a:extLst>
          </p:cNvPr>
          <p:cNvSpPr txBox="1"/>
          <p:nvPr/>
        </p:nvSpPr>
        <p:spPr>
          <a:xfrm>
            <a:off x="1203221" y="4286250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87D37"/>
                </a:solidFill>
                <a:latin typeface="Consolas" panose="020B0609020204030204" pitchFamily="49" charset="0"/>
              </a:rPr>
              <a:t>Raw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9FBC85-E173-4B6E-90DB-ABE9F173D992}"/>
              </a:ext>
            </a:extLst>
          </p:cNvPr>
          <p:cNvSpPr txBox="1"/>
          <p:nvPr/>
        </p:nvSpPr>
        <p:spPr>
          <a:xfrm>
            <a:off x="5412158" y="428625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6346A"/>
                </a:solidFill>
                <a:latin typeface="Consolas" panose="020B0609020204030204" pitchFamily="49" charset="0"/>
              </a:rPr>
              <a:t>Pandas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147262-C864-46D9-8A6E-48EDF1D3912C}"/>
              </a:ext>
            </a:extLst>
          </p:cNvPr>
          <p:cNvSpPr txBox="1"/>
          <p:nvPr/>
        </p:nvSpPr>
        <p:spPr>
          <a:xfrm>
            <a:off x="9145004" y="4286250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A50E82"/>
                </a:solidFill>
                <a:latin typeface="Consolas" panose="020B0609020204030204" pitchFamily="49" charset="0"/>
              </a:rPr>
              <a:t>NetworkX</a:t>
            </a:r>
            <a:endParaRPr lang="en-US" sz="2800" b="1" dirty="0">
              <a:solidFill>
                <a:srgbClr val="A50E8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322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0854BB-6DC6-4371-881A-5ED6B34F0241}"/>
              </a:ext>
            </a:extLst>
          </p:cNvPr>
          <p:cNvSpPr txBox="1"/>
          <p:nvPr/>
        </p:nvSpPr>
        <p:spPr>
          <a:xfrm>
            <a:off x="4481615" y="308610"/>
            <a:ext cx="32287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Consolas" panose="020B0609020204030204" pitchFamily="49" charset="0"/>
              </a:rPr>
              <a:t>Read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4BC164-A50B-4440-BA2B-01A49D25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4" y="1413510"/>
            <a:ext cx="8820150" cy="533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65A659-841F-44B3-8533-1F364975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537" y="2281237"/>
            <a:ext cx="740092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3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A9C832-7519-42CB-8889-C9BAC43696A3}"/>
              </a:ext>
            </a:extLst>
          </p:cNvPr>
          <p:cNvSpPr txBox="1"/>
          <p:nvPr/>
        </p:nvSpPr>
        <p:spPr>
          <a:xfrm>
            <a:off x="3297796" y="365343"/>
            <a:ext cx="55964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Consolas" panose="020B0609020204030204" pitchFamily="49" charset="0"/>
              </a:rPr>
              <a:t>Melt to </a:t>
            </a:r>
            <a:r>
              <a:rPr lang="en-US" sz="4800" dirty="0" err="1">
                <a:solidFill>
                  <a:srgbClr val="0070C0"/>
                </a:solidFill>
                <a:latin typeface="Consolas" panose="020B0609020204030204" pitchFamily="49" charset="0"/>
              </a:rPr>
              <a:t>edgelist</a:t>
            </a:r>
            <a:endParaRPr lang="en-US" sz="4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6EB70-F375-48A9-8409-55F5F3934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73" y="1309687"/>
            <a:ext cx="8401050" cy="923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0E1FBC-25F4-4722-A9BF-CE5A4F12E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8" y="2346959"/>
            <a:ext cx="60960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5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A9C832-7519-42CB-8889-C9BAC43696A3}"/>
              </a:ext>
            </a:extLst>
          </p:cNvPr>
          <p:cNvSpPr txBox="1"/>
          <p:nvPr/>
        </p:nvSpPr>
        <p:spPr>
          <a:xfrm>
            <a:off x="2113976" y="361325"/>
            <a:ext cx="79640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Consolas" panose="020B0609020204030204" pitchFamily="49" charset="0"/>
              </a:rPr>
              <a:t>Create a Directed Graph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C72AB-2598-4174-9254-89ABCB86A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658" y="1512465"/>
            <a:ext cx="7686675" cy="1495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AEB85D-DA88-4258-9E7B-F464EACE6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5" y="3223260"/>
            <a:ext cx="67056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649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A9C832-7519-42CB-8889-C9BAC43696A3}"/>
              </a:ext>
            </a:extLst>
          </p:cNvPr>
          <p:cNvSpPr txBox="1"/>
          <p:nvPr/>
        </p:nvSpPr>
        <p:spPr>
          <a:xfrm>
            <a:off x="2113976" y="361325"/>
            <a:ext cx="76258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Consolas" panose="020B0609020204030204" pitchFamily="49" charset="0"/>
              </a:rPr>
              <a:t>Clear Edge points = 0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F330E-08D0-445E-8FFC-E5572474C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1866900"/>
            <a:ext cx="946785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82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A9C832-7519-42CB-8889-C9BAC43696A3}"/>
              </a:ext>
            </a:extLst>
          </p:cNvPr>
          <p:cNvSpPr txBox="1"/>
          <p:nvPr/>
        </p:nvSpPr>
        <p:spPr>
          <a:xfrm>
            <a:off x="4481610" y="361741"/>
            <a:ext cx="32287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rgbClr val="0070C0"/>
                </a:solidFill>
                <a:latin typeface="Consolas" panose="020B0609020204030204" pitchFamily="49" charset="0"/>
              </a:rPr>
              <a:t>Visialize</a:t>
            </a:r>
            <a:endParaRPr lang="en-US" sz="4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3315A-713B-4DFD-AFFE-3C666DE49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378" y="1192738"/>
            <a:ext cx="9823243" cy="515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7AC6-5FD4-46BF-8A93-9DDCC4F4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18" y="213912"/>
            <a:ext cx="8534400" cy="1507067"/>
          </a:xfrm>
        </p:spPr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Các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biện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pháp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trung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tâm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89E5295-EF80-4C56-B9FB-C22DA7BE16AB}"/>
              </a:ext>
            </a:extLst>
          </p:cNvPr>
          <p:cNvGraphicFramePr>
            <a:graphicFrameLocks noGrp="1"/>
          </p:cNvGraphicFramePr>
          <p:nvPr/>
        </p:nvGraphicFramePr>
        <p:xfrm>
          <a:off x="530774" y="2077720"/>
          <a:ext cx="10927218" cy="434593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34941">
                  <a:extLst>
                    <a:ext uri="{9D8B030D-6E8A-4147-A177-3AD203B41FA5}">
                      <a16:colId xmlns:a16="http://schemas.microsoft.com/office/drawing/2014/main" val="2890061489"/>
                    </a:ext>
                  </a:extLst>
                </a:gridCol>
                <a:gridCol w="8192277">
                  <a:extLst>
                    <a:ext uri="{9D8B030D-6E8A-4147-A177-3AD203B41FA5}">
                      <a16:colId xmlns:a16="http://schemas.microsoft.com/office/drawing/2014/main" val="1649294163"/>
                    </a:ext>
                  </a:extLst>
                </a:gridCol>
              </a:tblGrid>
              <a:tr h="596341">
                <a:tc>
                  <a:txBody>
                    <a:bodyPr/>
                    <a:lstStyle/>
                    <a:p>
                      <a:pPr algn="l" fontAlgn="ctr"/>
                      <a:r>
                        <a:rPr lang="en-US" b="0">
                          <a:effectLst/>
                        </a:rPr>
                        <a:t>Measure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b="0">
                          <a:effectLst/>
                        </a:rPr>
                        <a:t>Concept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00248017"/>
                  </a:ext>
                </a:extLst>
              </a:tr>
              <a:tr h="596341"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</a:rPr>
                        <a:t>eigenvector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dirty="0">
                          <a:effectLst/>
                        </a:rPr>
                        <a:t>You are a friend of important people.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07938647"/>
                  </a:ext>
                </a:extLst>
              </a:tr>
              <a:tr h="980287"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</a:rPr>
                        <a:t>PageRank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</a:rPr>
                        <a:t>Important people points to you, you must be important. (eigenvector centrality for directed graph)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73468559"/>
                  </a:ext>
                </a:extLst>
              </a:tr>
              <a:tr h="596341"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</a:rPr>
                        <a:t>Degree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</a:rPr>
                        <a:t>if you have many connections you must be important.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544689200"/>
                  </a:ext>
                </a:extLst>
              </a:tr>
              <a:tr h="596341"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</a:rPr>
                        <a:t>Closeness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</a:rPr>
                        <a:t>you can reach everyone easily.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69427406"/>
                  </a:ext>
                </a:extLst>
              </a:tr>
              <a:tr h="980287">
                <a:tc>
                  <a:txBody>
                    <a:bodyPr/>
                    <a:lstStyle/>
                    <a:p>
                      <a:pPr algn="l" fontAlgn="ctr"/>
                      <a:r>
                        <a:rPr lang="en-US">
                          <a:effectLst/>
                        </a:rPr>
                        <a:t>Betweeness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dirty="0">
                          <a:effectLst/>
                        </a:rPr>
                        <a:t>you are the crossroad. Everyone has to pass through you to reach other parts of the graph.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24887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001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7AC6-5FD4-46BF-8A93-9DDCC4F4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25342"/>
            <a:ext cx="8534400" cy="1507067"/>
          </a:xfrm>
        </p:spPr>
        <p:txBody>
          <a:bodyPr/>
          <a:lstStyle/>
          <a:p>
            <a:pPr algn="ctr"/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biện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trung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tâm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36CC4-2E68-4896-982E-7C9AD0867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881" y="1980730"/>
            <a:ext cx="7996238" cy="289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56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7AC6-5FD4-46BF-8A93-9DDCC4F4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490" y="202483"/>
            <a:ext cx="8534400" cy="654767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Các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biện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pháp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trung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tâm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60520-4552-49E3-BD88-F207077D5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640" y="868680"/>
            <a:ext cx="6896100" cy="558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79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A9C832-7519-42CB-8889-C9BAC43696A3}"/>
              </a:ext>
            </a:extLst>
          </p:cNvPr>
          <p:cNvSpPr txBox="1"/>
          <p:nvPr/>
        </p:nvSpPr>
        <p:spPr>
          <a:xfrm>
            <a:off x="3297798" y="236012"/>
            <a:ext cx="55964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Consolas" panose="020B0609020204030204" pitchFamily="49" charset="0"/>
              </a:rPr>
              <a:t>Gephi - PageRank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0965B-B13F-4284-917F-83562391A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46" y="1195573"/>
            <a:ext cx="6075877" cy="5102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34466A-3724-4CD9-8D60-C33C6FBD8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853" y="1560763"/>
            <a:ext cx="26479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73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A9C832-7519-42CB-8889-C9BAC43696A3}"/>
              </a:ext>
            </a:extLst>
          </p:cNvPr>
          <p:cNvSpPr txBox="1"/>
          <p:nvPr/>
        </p:nvSpPr>
        <p:spPr>
          <a:xfrm>
            <a:off x="2283097" y="231993"/>
            <a:ext cx="76258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Consolas" panose="020B0609020204030204" pitchFamily="49" charset="0"/>
              </a:rPr>
              <a:t>Betweenness Centrality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EF6B0-A836-4687-BFE4-509F8F782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068" y="1062990"/>
            <a:ext cx="5700250" cy="5040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FAA9CD-C0C5-4BB4-80A9-39D166D61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007" y="1268834"/>
            <a:ext cx="32099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6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A9C832-7519-42CB-8889-C9BAC43696A3}"/>
              </a:ext>
            </a:extLst>
          </p:cNvPr>
          <p:cNvSpPr txBox="1"/>
          <p:nvPr/>
        </p:nvSpPr>
        <p:spPr>
          <a:xfrm>
            <a:off x="4481610" y="361741"/>
            <a:ext cx="32287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rgbClr val="0070C0"/>
                </a:solidFill>
                <a:latin typeface="Consolas" panose="020B0609020204030204" pitchFamily="49" charset="0"/>
              </a:rPr>
              <a:t>Visialize</a:t>
            </a:r>
            <a:endParaRPr lang="en-US" sz="4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3315A-713B-4DFD-AFFE-3C666DE49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378" y="1192738"/>
            <a:ext cx="9823243" cy="515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752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0854BB-6DC6-4371-881A-5ED6B34F0241}"/>
              </a:ext>
            </a:extLst>
          </p:cNvPr>
          <p:cNvSpPr txBox="1"/>
          <p:nvPr/>
        </p:nvSpPr>
        <p:spPr>
          <a:xfrm>
            <a:off x="1944319" y="708660"/>
            <a:ext cx="822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70C0"/>
                </a:solidFill>
                <a:latin typeface="Consolas" panose="020B0609020204030204" pitchFamily="49" charset="0"/>
              </a:rPr>
              <a:t>Divide and conquer!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2B85DF-61E9-4B67-954C-B114D63C745F}"/>
              </a:ext>
            </a:extLst>
          </p:cNvPr>
          <p:cNvSpPr txBox="1"/>
          <p:nvPr/>
        </p:nvSpPr>
        <p:spPr>
          <a:xfrm>
            <a:off x="2400538" y="4286250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06346A"/>
                </a:solidFill>
                <a:latin typeface="Consolas" panose="020B0609020204030204" pitchFamily="49" charset="0"/>
              </a:rPr>
              <a:t>Posotion</a:t>
            </a:r>
            <a:endParaRPr lang="en-US" sz="2800" b="1" dirty="0">
              <a:solidFill>
                <a:srgbClr val="06346A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9FBC85-E173-4B6E-90DB-ABE9F173D992}"/>
              </a:ext>
            </a:extLst>
          </p:cNvPr>
          <p:cNvSpPr txBox="1"/>
          <p:nvPr/>
        </p:nvSpPr>
        <p:spPr>
          <a:xfrm>
            <a:off x="5510743" y="4283690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Consolas" panose="020B0609020204030204" pitchFamily="49" charset="0"/>
              </a:rPr>
              <a:t>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147262-C864-46D9-8A6E-48EDF1D3912C}"/>
              </a:ext>
            </a:extLst>
          </p:cNvPr>
          <p:cNvSpPr txBox="1"/>
          <p:nvPr/>
        </p:nvSpPr>
        <p:spPr>
          <a:xfrm>
            <a:off x="8345744" y="4283690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Consolas" panose="020B0609020204030204" pitchFamily="49" charset="0"/>
              </a:rPr>
              <a:t>Size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006E0A7-5BFF-49FC-8104-EE56FCAE798A}"/>
              </a:ext>
            </a:extLst>
          </p:cNvPr>
          <p:cNvSpPr/>
          <p:nvPr/>
        </p:nvSpPr>
        <p:spPr>
          <a:xfrm>
            <a:off x="2400538" y="2274568"/>
            <a:ext cx="1762021" cy="1762021"/>
          </a:xfrm>
          <a:prstGeom prst="ellipse">
            <a:avLst/>
          </a:prstGeom>
          <a:solidFill>
            <a:srgbClr val="063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D0AC2D-F078-4942-9CE8-03ACC8047F79}"/>
              </a:ext>
            </a:extLst>
          </p:cNvPr>
          <p:cNvSpPr/>
          <p:nvPr/>
        </p:nvSpPr>
        <p:spPr>
          <a:xfrm>
            <a:off x="5175972" y="2274568"/>
            <a:ext cx="1762021" cy="176202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ACC0902-C8DC-48C9-BBD8-3371F984E6AE}"/>
              </a:ext>
            </a:extLst>
          </p:cNvPr>
          <p:cNvSpPr/>
          <p:nvPr/>
        </p:nvSpPr>
        <p:spPr>
          <a:xfrm>
            <a:off x="7951406" y="2274568"/>
            <a:ext cx="1762021" cy="1762021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3FFD6194-400C-480E-81C1-F690DAE22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898" y="2907928"/>
            <a:ext cx="495300" cy="495300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561ECE63-8B1E-4631-A753-746CAA7975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182" y="2850778"/>
            <a:ext cx="609600" cy="609600"/>
          </a:xfrm>
          <a:prstGeom prst="rect">
            <a:avLst/>
          </a:prstGeom>
        </p:spPr>
      </p:pic>
      <p:pic>
        <p:nvPicPr>
          <p:cNvPr id="19" name="Picture 18" descr="Icon&#10;&#10;Description automatically generated">
            <a:extLst>
              <a:ext uri="{FF2B5EF4-FFF2-40B4-BE49-F238E27FC236}">
                <a16:creationId xmlns:a16="http://schemas.microsoft.com/office/drawing/2014/main" id="{CA77E93A-5444-4250-9565-D234817EB3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615" y="285077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57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A9C832-7519-42CB-8889-C9BAC43696A3}"/>
              </a:ext>
            </a:extLst>
          </p:cNvPr>
          <p:cNvSpPr txBox="1"/>
          <p:nvPr/>
        </p:nvSpPr>
        <p:spPr>
          <a:xfrm>
            <a:off x="4481615" y="361741"/>
            <a:ext cx="32287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Consolas" panose="020B0609020204030204" pitchFamily="49" charset="0"/>
              </a:rPr>
              <a:t>Set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1E77A4-82D0-41F4-90A8-6D26E1FBC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1628775"/>
            <a:ext cx="91630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54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A9C832-7519-42CB-8889-C9BAC43696A3}"/>
              </a:ext>
            </a:extLst>
          </p:cNvPr>
          <p:cNvSpPr txBox="1"/>
          <p:nvPr/>
        </p:nvSpPr>
        <p:spPr>
          <a:xfrm>
            <a:off x="4481610" y="361741"/>
            <a:ext cx="32287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rgbClr val="0070C0"/>
                </a:solidFill>
                <a:latin typeface="Consolas" panose="020B0609020204030204" pitchFamily="49" charset="0"/>
              </a:rPr>
              <a:t>Visialize</a:t>
            </a:r>
            <a:endParaRPr lang="en-US" sz="48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CDE657-E8AA-4A5C-B19F-5C2E47375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912" y="1417320"/>
            <a:ext cx="9808175" cy="452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25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7F0057-052A-46A6-849C-C0F6D83D8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800100"/>
            <a:ext cx="10962958" cy="605790"/>
          </a:xfrm>
        </p:spPr>
        <p:txBody>
          <a:bodyPr>
            <a:noAutofit/>
          </a:bodyPr>
          <a:lstStyle/>
          <a:p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Một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số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Phần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Bạn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có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thể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Consolas" panose="020B0609020204030204" pitchFamily="49" charset="0"/>
              </a:rPr>
              <a:t>bổ</a:t>
            </a:r>
            <a:r>
              <a:rPr lang="en-US" sz="4000" dirty="0">
                <a:solidFill>
                  <a:srgbClr val="0070C0"/>
                </a:solidFill>
                <a:latin typeface="Consolas" panose="020B0609020204030204" pitchFamily="49" charset="0"/>
              </a:rPr>
              <a:t> sung ?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99EFC63-FD5C-43B2-AED8-20ECCA123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869622"/>
            <a:ext cx="10297920" cy="311875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Câu hỏi chúng tôi muốn trả lời</a:t>
            </a:r>
            <a:b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Có sự thiên vị nào trong việc bỏ phiếu không?</a:t>
            </a:r>
            <a:b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Quốc gia có ảnh hưởng nhất đến cuộc thi là gì?</a:t>
            </a:r>
            <a:b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Các quốc gia có được tổ chức theo cộng đồng không?</a:t>
            </a:r>
            <a:b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Các quốc gia có được tổ chức theo mối quan hệ văn hóa, như ngôn ngữ, v.v. không?</a:t>
            </a:r>
            <a:b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vi-VN" sz="2000" dirty="0">
                <a:solidFill>
                  <a:schemeClr val="tx1"/>
                </a:solidFill>
                <a:latin typeface="Consolas" panose="020B0609020204030204" pitchFamily="49" charset="0"/>
              </a:rPr>
              <a:t>Khoảng cách địa lý có quan trọng không?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569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227</TotalTime>
  <Words>623</Words>
  <Application>Microsoft Office PowerPoint</Application>
  <PresentationFormat>Widescreen</PresentationFormat>
  <Paragraphs>74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Office Theme</vt:lpstr>
      <vt:lpstr>SOCIAL NETWORK ANALYSIS</vt:lpstr>
      <vt:lpstr>Cuộc thi Eurovision song </vt:lpstr>
      <vt:lpstr>GIỚI THIỆU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Các biện pháp trung tâm </vt:lpstr>
      <vt:lpstr>Các biện pháp trung tâm </vt:lpstr>
      <vt:lpstr>Các biện pháp trung tâm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Một số Phần Bạn có thể bổ sung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NETWORK ANALYSIS</dc:title>
  <dc:creator>Nguyễn Hữu Minh Khai</dc:creator>
  <cp:lastModifiedBy>Nguyễn Hữu Minh Khai</cp:lastModifiedBy>
  <cp:revision>21</cp:revision>
  <dcterms:created xsi:type="dcterms:W3CDTF">2020-11-27T15:29:02Z</dcterms:created>
  <dcterms:modified xsi:type="dcterms:W3CDTF">2020-11-30T16:16:52Z</dcterms:modified>
</cp:coreProperties>
</file>